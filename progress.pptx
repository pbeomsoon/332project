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8" r:id="rId5"/>
    <p:sldId id="260" r:id="rId6"/>
    <p:sldId id="259" r:id="rId7"/>
    <p:sldId id="263" r:id="rId8"/>
    <p:sldId id="266" r:id="rId9"/>
    <p:sldId id="270" r:id="rId10"/>
    <p:sldId id="271" r:id="rId11"/>
    <p:sldId id="261" r:id="rId12"/>
    <p:sldId id="262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273" autoAdjust="0"/>
  </p:normalViewPr>
  <p:slideViewPr>
    <p:cSldViewPr snapToGrid="0">
      <p:cViewPr varScale="1">
        <p:scale>
          <a:sx n="100" d="100"/>
          <a:sy n="100" d="100"/>
        </p:scale>
        <p:origin x="9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AF84E-1DE2-4960-9CD7-A0542BAF9307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BA30F-7BF4-4D80-9E97-D9C2AE102C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087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26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1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474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5293-FA63-3829-DC87-AECF9B293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A2AA62-59B8-8DAA-F905-836AD9BD2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DE2756-15FF-54E9-19D6-2D0D8568E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9DDB9-89F9-6120-1A26-FB94AFC97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705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41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744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407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729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087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0888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BA30F-7BF4-4D80-9E97-D9C2AE102C5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128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5AE9F-54D7-0EFA-74E9-6A46897E7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1C0B69-7F99-B05B-FF59-7C936DA2E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5D8848-5708-B81A-E4EE-12CDE09B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B7E2E6-0EB5-B8BF-E126-ED947046F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6690E5-01A4-32D9-9DAB-57FA9DD3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611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FB7FA-BA6A-44E4-DD6B-17E896EB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DCB40-63CD-E3F3-48E7-A6E0837A4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BB3D40-E858-E2DC-E231-8B66E576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0EA58E-7978-66D3-712E-9C5026228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51E608-1DCE-6BEF-1CB2-89C65FB6E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1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A9B3DA-B677-7EB6-397A-5940B7642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6A7E20-23A6-B666-6889-D3C075EE3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DF49E6-84BA-5CD5-86AA-A9779A69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AF3F28-09AA-2231-7BC0-953EDF24B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46160E-BD3B-F33C-A3A2-E7745710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610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A988B-6DAC-8F30-6D1F-678B183A0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2B5DC5-12EB-6CE9-EB1E-018DCE3E8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6B7DCB-E52D-71EB-7AD7-F6DF301A3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3297BF-3EAE-F29D-AB9B-6D008794D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E65838-6241-69B6-D99B-E151972D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E2DCDF-5244-452F-3F92-D3BDEE638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82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A00A4-B408-B578-1A35-01020FB57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938F0E-EBC0-1F20-BA41-93D6A2ED1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2F8EBA-2303-4831-7F38-8E8CAA6CB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CED8FB5-981A-5A23-8075-E989E47AF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70B4A1-3553-11F7-7D8B-34F201F4E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922A82-67EA-5E9D-A54D-0A3C7FEAA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3AF5E7-F901-C55B-7D02-F0CD623E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F5272B8-018E-63BA-EDE6-F3808F36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715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CAE82-5FB8-03E7-31BA-91CD6086E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449D47-E23E-B848-97CE-51CF3DC11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13B3FF-E147-14CA-E713-F2C341FB2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EF4E29-5755-1874-2B28-8DAA399D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584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649ACC-F6F3-AB37-616D-37B0893ED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CCD323-185F-036F-0FA4-80610F1C6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63AF8A-F623-BF8A-0CE5-3D36D0C8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684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19DD11-8317-6ED5-0C7C-6A30E4A7A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B6B61E-FFFA-EF27-F79D-59032FAB3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C7C6F0-CF4B-A272-0FEB-0B5AF402D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0C7B7-1356-CE3D-A8D1-7C080C01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E4BEC9-E4DA-DAEA-C69D-1BA4C4F26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EA9B3A-0A49-D51D-6F0B-FBA490B1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81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2615B1-18EA-F85D-5369-CFBCE39A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6D5628-D3EF-8D35-CA76-4D6293E98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3CC29C-0CCA-D66A-AF84-8D52322CE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235BD1-8F8E-6D93-5706-39E3D2470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05C3CB0-2FF6-B0BE-AE4C-8E21E6B4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7EBB44-F94C-A023-681D-3AAE6D8F3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17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76DD9-4383-D73F-4505-A416F73D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0836A8-9098-1E76-6E50-745EB287D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CBA88B-9C72-25D3-C36D-155E1854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AED66C-6B83-C782-C64A-99BE83A3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D695FF-4BDE-52CB-8B84-CD4EE65B0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06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44D6BB-E248-63A9-617E-429436E73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4E5816-0ECD-4399-51FD-04525FC79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DB7AC2-0E73-B95E-B22A-AD258E76F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6CF7A2-3C85-B256-0A99-733943C30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010E8D-5D91-91F5-6375-9844A34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68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FFB230-812C-FB4F-E4A5-A02FAD465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DA323E-67DD-BC1E-365B-191530D83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E516BA-EF52-9794-D6DA-B90B22F7A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A4C78-B37C-48C5-BAA6-D5EE5AB3AC4C}" type="datetimeFigureOut">
              <a:rPr lang="ko-KR" altLang="en-US" smtClean="0"/>
              <a:t>2025-11-15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1A26C2-77EC-BE1A-D844-967DD6E60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97F137-F30D-0908-4D6C-1B82A6EAFA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D5673-8D5C-4490-A34F-ED8056256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26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17055-B1E1-B4A3-DEFA-70B011154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Progress Presentation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8E4DF3-C94B-D951-9DF5-E3BA2984C4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Team Silver </a:t>
            </a:r>
            <a:r>
              <a:rPr lang="en-US" altLang="ko-KR" sz="2000" dirty="0"/>
              <a:t>(</a:t>
            </a:r>
            <a:r>
              <a:rPr lang="ko-KR" altLang="en-US" sz="2000" dirty="0"/>
              <a:t>권동연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박범순</a:t>
            </a:r>
            <a:r>
              <a:rPr lang="en-US" altLang="ko-KR" sz="2000" dirty="0"/>
              <a:t>, </a:t>
            </a:r>
            <a:r>
              <a:rPr lang="ko-KR" altLang="en-US" sz="2000" dirty="0"/>
              <a:t>임지훈</a:t>
            </a:r>
            <a:r>
              <a:rPr lang="en-US" altLang="ko-KR" sz="2000" dirty="0"/>
              <a:t>)</a:t>
            </a:r>
            <a:endParaRPr lang="en-US" altLang="ko-KR" dirty="0"/>
          </a:p>
          <a:p>
            <a:r>
              <a:rPr lang="en-US" altLang="ko-KR" dirty="0"/>
              <a:t>CSED332, Fall 2025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0551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A42FADF-D2E5-D056-6B93-07DB934C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ko-KR" sz="4000"/>
              <a:t>Project Outline</a:t>
            </a:r>
            <a:endParaRPr lang="ko-KR" altLang="en-US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C69173-5E4D-ADA3-35E1-82C17134C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en-US" altLang="ko-KR" sz="2000"/>
              <a:t>Objective:</a:t>
            </a:r>
            <a:r>
              <a:rPr lang="ko-KR" altLang="en-US" sz="2000"/>
              <a:t> </a:t>
            </a:r>
            <a:r>
              <a:rPr lang="en-US" altLang="ko-KR" sz="2000"/>
              <a:t>Distributed</a:t>
            </a:r>
            <a:r>
              <a:rPr lang="ko-KR" altLang="en-US" sz="2000"/>
              <a:t> </a:t>
            </a:r>
            <a:r>
              <a:rPr lang="en-US" altLang="ko-KR" sz="2000"/>
              <a:t>Sorting</a:t>
            </a:r>
            <a:r>
              <a:rPr lang="ko-KR" altLang="en-US" sz="2000"/>
              <a:t> </a:t>
            </a:r>
            <a:r>
              <a:rPr lang="en-US" altLang="ko-KR" sz="2000"/>
              <a:t>System</a:t>
            </a:r>
          </a:p>
          <a:p>
            <a:pPr lvl="1"/>
            <a:r>
              <a:rPr lang="en-US" altLang="ko-KR" sz="2000"/>
              <a:t>Satisfying Fault Tolerance,</a:t>
            </a:r>
          </a:p>
          <a:p>
            <a:pPr lvl="1"/>
            <a:r>
              <a:rPr lang="en-US" altLang="ko-KR" sz="2000"/>
              <a:t>Master-Worker architecture,</a:t>
            </a:r>
          </a:p>
          <a:p>
            <a:pPr lvl="1"/>
            <a:r>
              <a:rPr lang="en-US" altLang="ko-KR" sz="2000"/>
              <a:t>ASCII/Binary auto detection, read-only input directory, etc.</a:t>
            </a:r>
          </a:p>
          <a:p>
            <a:pPr lvl="1"/>
            <a:endParaRPr lang="en-US" altLang="ko-KR" sz="2000"/>
          </a:p>
          <a:p>
            <a:r>
              <a:rPr lang="en-US" altLang="ko-KR" sz="2000"/>
              <a:t>Environment (we selected)</a:t>
            </a:r>
          </a:p>
          <a:p>
            <a:pPr lvl="1"/>
            <a:r>
              <a:rPr lang="en-US" altLang="ko-KR" sz="2000"/>
              <a:t>Language: Scala 2.13 </a:t>
            </a:r>
          </a:p>
          <a:p>
            <a:pPr lvl="1"/>
            <a:r>
              <a:rPr lang="en-US" altLang="ko-KR" sz="2000"/>
              <a:t>Build: SBT</a:t>
            </a:r>
          </a:p>
          <a:p>
            <a:pPr lvl="1"/>
            <a:r>
              <a:rPr lang="en-US" altLang="ko-KR" sz="2000"/>
              <a:t>Network: gRPC + Protocol Buffers</a:t>
            </a:r>
          </a:p>
          <a:p>
            <a:pPr lvl="1"/>
            <a:r>
              <a:rPr lang="en-US" altLang="ko-KR" sz="2000"/>
              <a:t>Test: ScalaTest (for TDD)</a:t>
            </a:r>
          </a:p>
          <a:p>
            <a:pPr lvl="1"/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2726531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AD9D7D-796C-7357-79A2-AFF81CADD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altLang="ko-KR" sz="3400"/>
              <a:t>Test Driven Development</a:t>
            </a:r>
            <a:endParaRPr lang="ko-KR" altLang="en-US" sz="3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B7F27C-4A0C-01D0-4F62-3F7818C35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TDD: Write tests first, then implement code to pass them</a:t>
            </a:r>
          </a:p>
          <a:p>
            <a:endParaRPr lang="en-US" altLang="ko-KR" sz="2000" dirty="0"/>
          </a:p>
          <a:p>
            <a:r>
              <a:rPr lang="en-US" altLang="ko-KR" sz="2000" dirty="0"/>
              <a:t>Guides toward cleaner architecture</a:t>
            </a:r>
          </a:p>
          <a:p>
            <a:endParaRPr lang="en-US" altLang="ko-KR" sz="2000" dirty="0"/>
          </a:p>
          <a:p>
            <a:r>
              <a:rPr lang="en-US" altLang="ko-KR" sz="2000" dirty="0"/>
              <a:t>Reduces merge conflicts</a:t>
            </a:r>
            <a:endParaRPr lang="ko-KR" altLang="en-US" sz="2000" dirty="0"/>
          </a:p>
        </p:txBody>
      </p:sp>
      <p:pic>
        <p:nvPicPr>
          <p:cNvPr id="5" name="Picture 2" descr="Test-Driven Development">
            <a:extLst>
              <a:ext uri="{FF2B5EF4-FFF2-40B4-BE49-F238E27FC236}">
                <a16:creationId xmlns:a16="http://schemas.microsoft.com/office/drawing/2014/main" id="{90241B84-0601-8D64-89CF-3420499DB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262901"/>
            <a:ext cx="6440424" cy="4276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224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654A0E-6ED6-A889-C81C-27D2C9BAE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3700" dirty="0"/>
              <a:t>Challenge 1: Memory Limitation</a:t>
            </a:r>
            <a:br>
              <a:rPr lang="en-US" altLang="ko-KR" sz="3700" dirty="0"/>
            </a:br>
            <a:r>
              <a:rPr lang="en-US" altLang="ko-KR" sz="3700" dirty="0"/>
              <a:t>– How We Solved</a:t>
            </a:r>
            <a:endParaRPr lang="ko-KR" altLang="en-US" sz="37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02AB05-0292-3A86-B151-660985DC6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/>
              <a:t>The input data can be larger than memory capacity</a:t>
            </a:r>
          </a:p>
          <a:p>
            <a:pPr lvl="1"/>
            <a:r>
              <a:rPr lang="en-US" altLang="ko-KR" sz="2200"/>
              <a:t>=&gt; </a:t>
            </a:r>
            <a:r>
              <a:rPr lang="en-US" altLang="ko-KR" sz="2200" b="1"/>
              <a:t>Disk-based merge sort</a:t>
            </a:r>
          </a:p>
          <a:p>
            <a:pPr lvl="1"/>
            <a:endParaRPr lang="en-US" altLang="ko-KR" sz="2200"/>
          </a:p>
          <a:p>
            <a:r>
              <a:rPr lang="en-US" altLang="ko-KR" sz="2200"/>
              <a:t>We set the chunk size to 512 MB</a:t>
            </a:r>
          </a:p>
          <a:p>
            <a:pPr lvl="1"/>
            <a:r>
              <a:rPr lang="en-US" altLang="ko-KR" sz="2200"/>
              <a:t>might be changed during optimization</a:t>
            </a:r>
          </a:p>
          <a:p>
            <a:endParaRPr lang="en-US" altLang="ko-KR" sz="2200"/>
          </a:p>
          <a:p>
            <a:r>
              <a:rPr lang="en-US" altLang="ko-KR" sz="2200"/>
              <a:t>In K-way merge, we used </a:t>
            </a:r>
            <a:r>
              <a:rPr lang="en-US" altLang="ko-KR" sz="2200" b="1"/>
              <a:t>Streaming</a:t>
            </a:r>
            <a:r>
              <a:rPr lang="en-US" altLang="ko-KR" sz="2200"/>
              <a:t> method.</a:t>
            </a:r>
            <a:endParaRPr lang="ko-KR" altLang="en-US" sz="2200"/>
          </a:p>
        </p:txBody>
      </p:sp>
    </p:spTree>
    <p:extLst>
      <p:ext uri="{BB962C8B-B14F-4D97-AF65-F5344CB8AC3E}">
        <p14:creationId xmlns:p14="http://schemas.microsoft.com/office/powerpoint/2010/main" val="320017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F0781-695E-3037-EF8D-60A2C0E92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8D6F5D-1524-8B0D-656B-C6574F299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Streaming method</a:t>
            </a:r>
            <a:endParaRPr lang="ko-KR" altLang="en-US" sz="4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그림 4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1BDF8B-37F4-C2D1-CFAA-C7023882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" b="53"/>
          <a:stretch>
            <a:fillRect/>
          </a:stretch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878BA5-06DF-9B44-CB62-CF7E2EFB7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3234" y="2276856"/>
            <a:ext cx="4947088" cy="3895344"/>
          </a:xfrm>
        </p:spPr>
        <p:txBody>
          <a:bodyPr anchor="ctr">
            <a:normAutofit/>
          </a:bodyPr>
          <a:lstStyle/>
          <a:p>
            <a:r>
              <a:rPr lang="en-US" altLang="ko-KR" sz="2000" dirty="0"/>
              <a:t>Continuous transmission of data, </a:t>
            </a:r>
            <a:r>
              <a:rPr lang="en-US" altLang="ko-KR" sz="2000" b="1" dirty="0"/>
              <a:t>not loading whole data</a:t>
            </a:r>
            <a:r>
              <a:rPr lang="en-US" altLang="ko-KR" sz="2000" dirty="0"/>
              <a:t> on memory</a:t>
            </a:r>
          </a:p>
          <a:p>
            <a:r>
              <a:rPr lang="en-US" altLang="ko-KR" sz="2000" dirty="0"/>
              <a:t>Streaming in K-way merge</a:t>
            </a:r>
          </a:p>
          <a:p>
            <a:pPr lvl="1"/>
            <a:r>
              <a:rPr lang="en-US" altLang="ko-KR" sz="2000" dirty="0"/>
              <a:t>Store only the smallest record from each file in memory</a:t>
            </a:r>
          </a:p>
          <a:p>
            <a:pPr lvl="1"/>
            <a:r>
              <a:rPr lang="en-US" altLang="ko-KR" sz="2000" dirty="0"/>
              <a:t>Only K records are kept in memory</a:t>
            </a:r>
          </a:p>
          <a:p>
            <a:pPr lvl="1"/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08911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3F3E5EA-D13A-6C61-2886-13049D00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3700"/>
              <a:t>Challenge 2: Distributed Storage</a:t>
            </a:r>
            <a:br>
              <a:rPr lang="en-US" altLang="ko-KR" sz="3700"/>
            </a:br>
            <a:r>
              <a:rPr lang="en-US" altLang="ko-KR" sz="3700"/>
              <a:t>- How</a:t>
            </a:r>
            <a:r>
              <a:rPr lang="ko-KR" altLang="en-US" sz="3700"/>
              <a:t> </a:t>
            </a:r>
            <a:r>
              <a:rPr lang="en-US" altLang="ko-KR" sz="3700"/>
              <a:t>we solved</a:t>
            </a:r>
            <a:endParaRPr lang="ko-KR" alt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C5FFD5-800C-AF20-464D-1EAE7D482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The input data can be larger than disk capacity</a:t>
            </a:r>
          </a:p>
          <a:p>
            <a:pPr lvl="1"/>
            <a:r>
              <a:rPr lang="en-US" altLang="ko-KR" sz="2200" dirty="0"/>
              <a:t>=&gt; </a:t>
            </a:r>
            <a:r>
              <a:rPr lang="en-US" altLang="ko-KR" sz="2200" b="1" dirty="0"/>
              <a:t>Master-Worker architecture (sampling, shuffling, …)</a:t>
            </a:r>
          </a:p>
          <a:p>
            <a:pPr lvl="1"/>
            <a:endParaRPr lang="en-US" altLang="ko-KR" sz="2200" b="1" dirty="0"/>
          </a:p>
          <a:p>
            <a:r>
              <a:rPr lang="en-US" altLang="ko-KR" sz="2200" dirty="0"/>
              <a:t>We used </a:t>
            </a:r>
            <a:r>
              <a:rPr lang="en-US" altLang="ko-KR" sz="2200" b="1" dirty="0"/>
              <a:t>N→M Strategy </a:t>
            </a:r>
            <a:r>
              <a:rPr lang="en-US" altLang="ko-KR" sz="2200" dirty="0"/>
              <a:t>for Merge Parallelization</a:t>
            </a:r>
          </a:p>
          <a:p>
            <a:pPr lvl="1"/>
            <a:r>
              <a:rPr lang="en-US" altLang="ko-KR" sz="2200" dirty="0"/>
              <a:t>Not “N workers → N partitions”</a:t>
            </a:r>
          </a:p>
          <a:p>
            <a:pPr lvl="1"/>
            <a:r>
              <a:rPr lang="en-US" altLang="ko-KR" sz="2200" dirty="0"/>
              <a:t>N workers → M partitions, M &gt; N</a:t>
            </a:r>
          </a:p>
          <a:p>
            <a:pPr lvl="1"/>
            <a:r>
              <a:rPr lang="en-US" altLang="ko-KR" sz="2200" dirty="0"/>
              <a:t>For </a:t>
            </a:r>
            <a:r>
              <a:rPr lang="en-US" altLang="ko-KR" sz="2200" b="1" dirty="0"/>
              <a:t>multi-threading</a:t>
            </a:r>
            <a:r>
              <a:rPr lang="en-US" altLang="ko-KR" sz="2200" dirty="0"/>
              <a:t> support</a:t>
            </a:r>
            <a:endParaRPr lang="en-US" altLang="ko-KR" sz="2200" b="1" dirty="0"/>
          </a:p>
          <a:p>
            <a:endParaRPr lang="en-US" altLang="ko-KR" sz="2200" b="1" dirty="0"/>
          </a:p>
          <a:p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830859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FCFADE-E281-52F0-EF28-55C42AB1B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CC121AC-998F-8786-1155-E88125181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altLang="ko-KR" sz="2600"/>
              <a:t>Challenge 2: Distributed Storage</a:t>
            </a:r>
            <a:br>
              <a:rPr lang="en-US" altLang="ko-KR" sz="2600"/>
            </a:br>
            <a:r>
              <a:rPr lang="en-US" altLang="ko-KR" sz="2600"/>
              <a:t>- N→M Strategy</a:t>
            </a:r>
            <a:endParaRPr lang="ko-KR" altLang="en-US" sz="26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E248FE7E-8BE9-FF80-3D0B-297346E0A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altLang="ko-KR" sz="1700" dirty="0"/>
              <a:t>We assigned three partitions to each worker.</a:t>
            </a:r>
          </a:p>
          <a:p>
            <a:endParaRPr lang="en-US" altLang="ko-KR" sz="1700" dirty="0"/>
          </a:p>
          <a:p>
            <a:r>
              <a:rPr lang="en-US" altLang="ko-KR" sz="1700" dirty="0"/>
              <a:t>Each partition can be independently merged.</a:t>
            </a:r>
            <a:endParaRPr lang="ko-KR" altLang="en-US" sz="17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43B568-423C-E72F-9872-19DED24EC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419995"/>
            <a:ext cx="6922008" cy="411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64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5EFAA-FFFC-E2FD-5090-74DDFB0F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2FB6D7-CFA2-000C-661D-68DB7582F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3700"/>
              <a:t>Challenge 3: Worker Crash</a:t>
            </a:r>
            <a:br>
              <a:rPr lang="en-US" altLang="ko-KR" sz="3700"/>
            </a:br>
            <a:r>
              <a:rPr lang="en-US" altLang="ko-KR" sz="3700"/>
              <a:t>- How</a:t>
            </a:r>
            <a:r>
              <a:rPr lang="ko-KR" altLang="en-US" sz="3700"/>
              <a:t> </a:t>
            </a:r>
            <a:r>
              <a:rPr lang="en-US" altLang="ko-KR" sz="3700"/>
              <a:t>we solved</a:t>
            </a:r>
            <a:endParaRPr lang="ko-KR" alt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DED23D-5F11-BFEA-8B17-B6165EF23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A worker process crashes in the middle of execution. </a:t>
            </a:r>
          </a:p>
          <a:p>
            <a:pPr lvl="1"/>
            <a:r>
              <a:rPr lang="en-US" altLang="ko-KR" sz="2200" dirty="0"/>
              <a:t>e.g., killed by OS</a:t>
            </a:r>
          </a:p>
          <a:p>
            <a:pPr marL="457200" lvl="1" indent="0">
              <a:buNone/>
            </a:pPr>
            <a:endParaRPr lang="en-US" altLang="ko-KR" sz="2200" dirty="0"/>
          </a:p>
          <a:p>
            <a:r>
              <a:rPr lang="en-US" altLang="ko-KR" sz="2200" dirty="0"/>
              <a:t>We used 2-Layer Fault Tolerance for solving</a:t>
            </a:r>
          </a:p>
          <a:p>
            <a:pPr lvl="1"/>
            <a:r>
              <a:rPr lang="en-US" altLang="ko-KR" sz="2200" dirty="0"/>
              <a:t>Layer 1: Checkpoint: restore the progress status</a:t>
            </a:r>
          </a:p>
          <a:p>
            <a:pPr lvl="1"/>
            <a:r>
              <a:rPr lang="en-US" altLang="ko-KR" sz="2200" dirty="0"/>
              <a:t>Layer 2: Replication: recovery of intermediate data</a:t>
            </a:r>
          </a:p>
          <a:p>
            <a:endParaRPr lang="en-US" altLang="ko-KR" sz="2200" dirty="0"/>
          </a:p>
          <a:p>
            <a:pPr lvl="1"/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3610231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B584E3-11B6-BD7B-4E4F-A48AD48D9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D813C4-0B71-C216-EC41-0D57884A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altLang="ko-KR" sz="2600"/>
              <a:t>Challenge 3: Worker Crash</a:t>
            </a:r>
            <a:br>
              <a:rPr lang="en-US" altLang="ko-KR" sz="2600"/>
            </a:br>
            <a:r>
              <a:rPr lang="en-US" altLang="ko-KR" sz="2600"/>
              <a:t>- Checkpoint</a:t>
            </a:r>
            <a:endParaRPr lang="ko-KR" altLang="en-US" sz="2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2496AC-7B4E-A849-6BDF-2E3E156CF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6703695" cy="3771188"/>
          </a:xfrm>
        </p:spPr>
        <p:txBody>
          <a:bodyPr>
            <a:normAutofit/>
          </a:bodyPr>
          <a:lstStyle/>
          <a:p>
            <a:endParaRPr lang="en-US" altLang="ko-KR" sz="1700" dirty="0"/>
          </a:p>
          <a:p>
            <a:pPr lvl="1"/>
            <a:r>
              <a:rPr lang="en-US" altLang="ko-KR" sz="1700" dirty="0"/>
              <a:t>After each phase is completed, a checkpoint is saved that includes the current phase and the </a:t>
            </a:r>
            <a:r>
              <a:rPr lang="en-US" altLang="ko-KR" sz="1700" i="1" dirty="0" err="1"/>
              <a:t>WorkerState</a:t>
            </a:r>
            <a:r>
              <a:rPr lang="en-US" altLang="ko-KR" sz="1700" dirty="0"/>
              <a:t> we defined.</a:t>
            </a:r>
          </a:p>
          <a:p>
            <a:pPr marL="457200" lvl="1" indent="0">
              <a:buNone/>
            </a:pPr>
            <a:endParaRPr lang="en-US" altLang="ko-KR" sz="1700" dirty="0"/>
          </a:p>
          <a:p>
            <a:pPr lvl="1"/>
            <a:r>
              <a:rPr lang="en-US" altLang="ko-KR" sz="1700" dirty="0"/>
              <a:t>If the checkpoint points to phase 2, the preceding steps can be skipped and it can start from phase 3.</a:t>
            </a:r>
          </a:p>
          <a:p>
            <a:pPr lvl="1"/>
            <a:endParaRPr lang="en-US" altLang="ko-KR" sz="1700" dirty="0"/>
          </a:p>
          <a:p>
            <a:pPr lvl="1"/>
            <a:r>
              <a:rPr lang="en-US" altLang="ko-KR" sz="1700" dirty="0"/>
              <a:t>But what if the intermediate files are lost? =&gt; Layer 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37C6A5-8FC8-5F26-0D8E-043DECA29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0460" y="910906"/>
            <a:ext cx="4326255" cy="23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8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20008-FF6F-4DA2-750B-B047179EE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B814015-4156-D2AA-DF22-1693DC57A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3700"/>
              <a:t>Challenge 3: Worker Crash</a:t>
            </a:r>
            <a:br>
              <a:rPr lang="en-US" altLang="ko-KR" sz="3700"/>
            </a:br>
            <a:r>
              <a:rPr lang="en-US" altLang="ko-KR" sz="3700"/>
              <a:t>- Replication</a:t>
            </a:r>
            <a:endParaRPr lang="ko-KR" altLang="en-US" sz="3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AEC3DD-8CF5-F730-1798-001E1AE87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018806"/>
            <a:ext cx="10168128" cy="3695020"/>
          </a:xfrm>
        </p:spPr>
        <p:txBody>
          <a:bodyPr>
            <a:normAutofit/>
          </a:bodyPr>
          <a:lstStyle/>
          <a:p>
            <a:endParaRPr lang="en-US" altLang="ko-KR" sz="2200" dirty="0"/>
          </a:p>
          <a:p>
            <a:pPr lvl="1"/>
            <a:r>
              <a:rPr lang="en-US" altLang="ko-KR" sz="2200" dirty="0"/>
              <a:t>Recovers intermediate files lost during a worker crash from another worker.</a:t>
            </a:r>
          </a:p>
          <a:p>
            <a:pPr lvl="1"/>
            <a:endParaRPr lang="en-US" altLang="ko-KR" sz="2200" dirty="0"/>
          </a:p>
          <a:p>
            <a:pPr lvl="1"/>
            <a:r>
              <a:rPr lang="en-US" altLang="ko-KR" sz="2200" dirty="0"/>
              <a:t>When a worker creates a partition, it replicates each partition across backup workers.</a:t>
            </a:r>
          </a:p>
          <a:p>
            <a:pPr lvl="1"/>
            <a:endParaRPr lang="en-US" altLang="ko-KR" sz="2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79E5F0-B9CD-0D16-0D08-21F11285F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814" y="4405169"/>
            <a:ext cx="8618372" cy="224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27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9AF624-E1B2-BDD8-AE66-27052EBC3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64389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Review</a:t>
            </a:r>
            <a:r>
              <a:rPr lang="en-US" altLang="ko-KR" sz="3700" dirty="0"/>
              <a:t> of weekly progress</a:t>
            </a:r>
            <a:br>
              <a:rPr lang="en-US" altLang="ko-KR" sz="3700" dirty="0"/>
            </a:br>
            <a:endParaRPr lang="ko-KR" altLang="en-US" sz="3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EB508C-394B-8802-9CD9-C153B0EE4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76856"/>
            <a:ext cx="10168128" cy="4200144"/>
          </a:xfrm>
        </p:spPr>
        <p:txBody>
          <a:bodyPr>
            <a:normAutofit/>
          </a:bodyPr>
          <a:lstStyle/>
          <a:p>
            <a:r>
              <a:rPr lang="en-US" altLang="ko-KR" sz="1800" b="1" dirty="0"/>
              <a:t>Week 1-2: Design Phase</a:t>
            </a:r>
          </a:p>
          <a:p>
            <a:pPr lvl="1"/>
            <a:r>
              <a:rPr lang="en-US" altLang="ko-KR" sz="1800" dirty="0"/>
              <a:t>System architecture definition</a:t>
            </a:r>
          </a:p>
          <a:p>
            <a:pPr lvl="1"/>
            <a:r>
              <a:rPr lang="en-US" altLang="ko-KR" sz="1800" dirty="0"/>
              <a:t>Protocol Buffers design</a:t>
            </a:r>
          </a:p>
          <a:p>
            <a:pPr lvl="1"/>
            <a:r>
              <a:rPr lang="en-US" altLang="ko-KR" sz="1800" dirty="0"/>
              <a:t>Fault Tolerance strategy decision</a:t>
            </a:r>
            <a:endParaRPr lang="en-US" altLang="ko-KR" sz="1800" b="1" dirty="0"/>
          </a:p>
          <a:p>
            <a:r>
              <a:rPr lang="en-US" altLang="ko-KR" sz="1800" b="1" dirty="0"/>
              <a:t>Week 3: Project Structure</a:t>
            </a:r>
          </a:p>
          <a:p>
            <a:pPr lvl="1"/>
            <a:r>
              <a:rPr lang="en-US" altLang="ko-KR" sz="1800" dirty="0"/>
              <a:t>SBT project setup</a:t>
            </a:r>
          </a:p>
          <a:p>
            <a:pPr lvl="1"/>
            <a:r>
              <a:rPr lang="en-US" altLang="ko-KR" sz="1800" dirty="0"/>
              <a:t>Record class implementation</a:t>
            </a:r>
          </a:p>
          <a:p>
            <a:r>
              <a:rPr lang="en-US" altLang="ko-KR" sz="1800" b="1" dirty="0"/>
              <a:t>Week 4-5: Core Components Implementation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RecordReader</a:t>
            </a:r>
            <a:r>
              <a:rPr lang="en-US" altLang="ko-KR" sz="1800" dirty="0"/>
              <a:t> (Binary/ASCII), </a:t>
            </a:r>
            <a:r>
              <a:rPr lang="en-US" altLang="ko-KR" sz="1800" dirty="0" err="1"/>
              <a:t>InputFormatDetector</a:t>
            </a:r>
            <a:r>
              <a:rPr lang="en-US" altLang="ko-KR" sz="1800" dirty="0"/>
              <a:t>,</a:t>
            </a:r>
          </a:p>
          <a:p>
            <a:pPr lvl="1"/>
            <a:r>
              <a:rPr lang="en-US" altLang="ko-KR" sz="1800" dirty="0" err="1"/>
              <a:t>FileLayout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RecordWriter</a:t>
            </a:r>
            <a:r>
              <a:rPr lang="en-US" altLang="ko-KR" sz="1800" dirty="0"/>
              <a:t>,</a:t>
            </a:r>
          </a:p>
          <a:p>
            <a:pPr lvl="1"/>
            <a:r>
              <a:rPr lang="en-US" altLang="ko-KR" sz="1800" dirty="0" err="1"/>
              <a:t>ExternalSorter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KWayMerger</a:t>
            </a:r>
            <a:r>
              <a:rPr lang="en-US" altLang="ko-KR" sz="1800" dirty="0"/>
              <a:t>, Partitioner</a:t>
            </a:r>
          </a:p>
          <a:p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650884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18908A5-1385-ED7D-8B45-DF4F40DBC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Remaining milestones we have set</a:t>
            </a:r>
            <a:endParaRPr lang="ko-KR" altLang="en-US" sz="4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EA6F29-4FD2-46E4-A728-15BB129C4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altLang="ko-KR" sz="2200" b="1" dirty="0"/>
              <a:t>Week 6: Master/Worker Implementation (In Progress)</a:t>
            </a:r>
          </a:p>
          <a:p>
            <a:pPr lvl="1"/>
            <a:r>
              <a:rPr lang="en-US" altLang="ko-KR" sz="2200" dirty="0"/>
              <a:t>Master implementation</a:t>
            </a:r>
            <a:r>
              <a:rPr lang="ko-KR" altLang="en-US" sz="2200" dirty="0"/>
              <a:t> </a:t>
            </a:r>
            <a:r>
              <a:rPr lang="en-US" altLang="ko-KR" sz="2200" dirty="0"/>
              <a:t>(Worker management, Phase synchronization)</a:t>
            </a:r>
          </a:p>
          <a:p>
            <a:pPr lvl="1"/>
            <a:r>
              <a:rPr lang="en-US" altLang="ko-KR" sz="2200" dirty="0"/>
              <a:t>Worker implementation (5-phase execution)</a:t>
            </a:r>
          </a:p>
          <a:p>
            <a:pPr lvl="1"/>
            <a:r>
              <a:rPr lang="en-US" altLang="ko-KR" sz="2200" dirty="0"/>
              <a:t>2-Layer Fault Tolerance integration</a:t>
            </a:r>
          </a:p>
          <a:p>
            <a:pPr lvl="1"/>
            <a:endParaRPr lang="en-US" altLang="ko-KR" sz="2200" dirty="0"/>
          </a:p>
          <a:p>
            <a:r>
              <a:rPr lang="en-US" altLang="ko-KR" sz="2200" b="1" dirty="0"/>
              <a:t>Week 7-8: Integration Testing (Planned)</a:t>
            </a:r>
          </a:p>
          <a:p>
            <a:pPr lvl="1"/>
            <a:r>
              <a:rPr lang="en-US" altLang="ko-KR" sz="2200" dirty="0"/>
              <a:t>Full system testing</a:t>
            </a:r>
          </a:p>
          <a:p>
            <a:pPr lvl="1"/>
            <a:r>
              <a:rPr lang="en-US" altLang="ko-KR" sz="2200" dirty="0"/>
              <a:t>Fault Tolerance verification</a:t>
            </a:r>
          </a:p>
          <a:p>
            <a:pPr lvl="1"/>
            <a:r>
              <a:rPr lang="en-US" altLang="ko-KR" sz="2200" dirty="0"/>
              <a:t>Optimization</a:t>
            </a:r>
          </a:p>
          <a:p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980315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29EA4-5D74-9447-67C9-D2CD186A8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2F3EA-DDDD-06EE-C07E-A5DD5E79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41712"/>
            <a:ext cx="7848600" cy="11716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en-US" altLang="ko-KR" sz="4000"/>
              <a:t>Overall Design of System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A178DC5D-87FD-5A57-1B5F-0D7EFC6C95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920" y="2329392"/>
            <a:ext cx="3938418" cy="25008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6E31274-AAB0-ABD6-10D7-E62C49B90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338" y="2313404"/>
            <a:ext cx="7874081" cy="348428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493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932</TotalTime>
  <Words>519</Words>
  <Application>Microsoft Office PowerPoint</Application>
  <PresentationFormat>와이드스크린</PresentationFormat>
  <Paragraphs>98</Paragraphs>
  <Slides>13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테마</vt:lpstr>
      <vt:lpstr>Progress Presentation</vt:lpstr>
      <vt:lpstr>Project Outline</vt:lpstr>
      <vt:lpstr>Test Driven Development</vt:lpstr>
      <vt:lpstr>Challenge 1: Memory Limitation – How We Solved</vt:lpstr>
      <vt:lpstr>Streaming method</vt:lpstr>
      <vt:lpstr>Challenge 2: Distributed Storage - How we solved</vt:lpstr>
      <vt:lpstr>Challenge 2: Distributed Storage - N→M Strategy</vt:lpstr>
      <vt:lpstr>Challenge 3: Worker Crash - How we solved</vt:lpstr>
      <vt:lpstr>Challenge 3: Worker Crash - Checkpoint</vt:lpstr>
      <vt:lpstr>Challenge 3: Worker Crash - Replication</vt:lpstr>
      <vt:lpstr>Review of weekly progress </vt:lpstr>
      <vt:lpstr>Remaining milestones we have set</vt:lpstr>
      <vt:lpstr>Overall Design of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권동연(무은재학부)</dc:creator>
  <cp:lastModifiedBy>권동연(무은재학부)</cp:lastModifiedBy>
  <cp:revision>5</cp:revision>
  <dcterms:created xsi:type="dcterms:W3CDTF">2025-11-14T08:16:52Z</dcterms:created>
  <dcterms:modified xsi:type="dcterms:W3CDTF">2025-11-15T15:38:17Z</dcterms:modified>
</cp:coreProperties>
</file>